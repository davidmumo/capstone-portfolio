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2FD909-A640-494D-BEF1-348A66D89F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D34BD0-0AA3-48B9-BCA7-639D8C2398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01E141-E502-4E7C-8FB4-F544C54146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AA4E4C-28AE-4D74-A84B-66F98954DF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8CFF2C-AF5A-4415-920E-681A8AD0F6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E6CFEA-7667-4098-8CC2-BB53920F85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065B8A-45F3-43E3-B801-FC6291DF61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A761DB-4499-4733-95A3-00124195D0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039D8D-0D23-4497-9215-B5BFB4111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D8CA94-CDB5-4E16-89FC-AFCD2709D1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C19A1F-3B8C-440D-BA97-8254607687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0" y="1959120"/>
            <a:ext cx="10885680" cy="130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75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435240" y="3483000"/>
            <a:ext cx="11320920" cy="204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55E8D113-7C1E-48BF-A604-FD029E2263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1959120"/>
            <a:ext cx="10885680" cy="130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75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35240" y="3483000"/>
            <a:ext cx="11320920" cy="204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281"/>
              </a:spcBef>
              <a:buNone/>
            </a:pPr>
            <a:endParaRPr lang="en-US" sz="29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AFDA6F01-6180-4743-9609-6913C83105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flipH="1" flipV="1">
            <a:off x="0" y="5442120"/>
            <a:ext cx="12191760" cy="141516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3816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0" y="1959120"/>
            <a:ext cx="10885680" cy="130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750" b="0" u="none" strike="noStrike">
                <a:solidFill>
                  <a:srgbClr val="DD41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3750" b="0" u="none" strike="noStrike">
                <a:solidFill>
                  <a:srgbClr val="DD41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375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35240" y="3483000"/>
            <a:ext cx="11320920" cy="2049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281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90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1026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54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76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18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507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81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25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19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303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366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9BDD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spcBef>
                <a:spcPts val="1281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90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9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Bef>
                <a:spcPts val="1026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54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54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Bef>
                <a:spcPts val="76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8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18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Bef>
                <a:spcPts val="507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1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1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Bef>
                <a:spcPts val="25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9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Fifth Outline Level</a:t>
            </a:r>
            <a:endParaRPr lang="en-US" sz="219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Bef>
                <a:spcPts val="303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64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Bef>
                <a:spcPts val="366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9BDD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32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4"/>
          </p:nvPr>
        </p:nvSpPr>
        <p:spPr>
          <a:xfrm>
            <a:off x="435240" y="6313680"/>
            <a:ext cx="2830320" cy="43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35"/>
          </p:nvPr>
        </p:nvSpPr>
        <p:spPr>
          <a:xfrm>
            <a:off x="4136400" y="6313680"/>
            <a:ext cx="3918960" cy="43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36"/>
          </p:nvPr>
        </p:nvSpPr>
        <p:spPr>
          <a:xfrm>
            <a:off x="8925840" y="6313680"/>
            <a:ext cx="2830320" cy="43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73F6BA3-5FD2-4A30-9743-D5BF943B501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Journey of Resilience &amp; Growth</a:t>
            </a:r>
            <a:endParaRPr lang="en-US" sz="44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An Autobiographical Presentation by Ngei David Mumo</a:t>
            </a:r>
            <a:endParaRPr lang="en-US" sz="24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Dedan Kimathi University of Technology</a:t>
            </a:r>
            <a:endParaRPr lang="en-US" sz="2400" b="0" u="none" strike="noStrike">
              <a:solidFill>
                <a:srgbClr val="000000"/>
              </a:solidFill>
              <a:effectLst/>
              <a:highlight>
                <a:srgbClr val="FFFFFF"/>
              </a:highlight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1. Roots &amp; Early Upbringing (Kitui County)</a:t>
            </a:r>
            <a:endParaRPr lang="en-US" sz="32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Born on 25th May 2004 in Kitui County.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Raised in a close-knit family anchored by the sacrifices of my father (a dedicated businessperson) and the warmth of my mother.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Grew up in a blended/extended family alongside younger siblings Stephen Muli and Grace Musyoki.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Learned early lessons of leadership, patience, and protection as the eldest brother.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2. The Village Classroom: Lessons from Nature</a:t>
            </a:r>
            <a:endParaRPr lang="en-US" sz="32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Experienced the stark contrast between lush rainy seasons (maize and bean farming) and harsh dry seasons.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Daily routines built physical endurance: waking at dawn, fetching water from streams, collecting firewood, and herding goats.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Learned accountability through childhood mistakes (such as the goat-herding incident in a neighbor's farm).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Core values forged: Perseverance, gratitude, and communal unity.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3. Primary Education: St. Stephens Academy</a:t>
            </a:r>
            <a:endParaRPr lang="en-US" sz="32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Attended St. Stephens Academy from baby class to Class Eight.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Overcame daily physical hurdles walking up steep, muddy hills to reach the classroom.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Mentored by dedicated educators: Mr. Kivaa (Mathematics), Mr. Tom (Social Studies), Mr. Eric &amp; Mr. Paul (Science).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Practiced childhood ingenuity on the playground using improvised plastic-bag footballs.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Overcame early struggles in languages while excelling consistently in Mathematics and Science.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4. The Crucible of Maseno School (2019–2022)</a:t>
            </a:r>
            <a:endParaRPr lang="en-US" sz="32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Transitioned to boarding life at Maseno School in Kisumu—adapting to crowded dormitories and strict dawn-to-night timetables.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Overcame intense academic pressure in English and Kiswahili through consistent practice and teacher consultations.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Inspired by Mrs. Musango (Computer Studies), discovering technology as a tool to shape the future.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Awarded Best Student in Mathematics (Forms 2 &amp; 3) and Top Student in Computer Studies (Forms 3 &amp; 4).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Served as Class Prefect and Computer Laboratory Prefect, graduating with a strong KCSE grade.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5. University Awakening at DeKUT</a:t>
            </a:r>
            <a:endParaRPr lang="en-US" sz="32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Enrolled in BSc Information Technology at Dedan Kimathi University of Technology (DeKUT), Nyeri.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Navigated the transition from strict high school supervision to managing personal freedom at Laduvet Hostels.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Mastered core programming and infrastructure: Python, Java, C++, JavaScript, React, MySQL, and Linux.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Earned industry certifications: Cisco Linux Essentials, Network Communication Basics, OS Basics, and Cybersecurity.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6. Faith, Fellowship &amp; Personal Transformation</a:t>
            </a:r>
            <a:endParaRPr lang="en-US" sz="32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Anchored by Catholic faith: Baptized as Benedict (Class 4) and Confirmed (Class 6) at St. Patrick Catholic Church.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Served as Vice Chairperson and later Secretary of the DeKUT Catholic Association Altar Servers Group.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Active member of St. Thomas Aquinas Bible Study, St. Angelus Group, and the Data Science &amp; AI Club (DSAIC).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Overcame childhood introversion through campus hackathons, community outreach at children's homes, and hiking at Karima Forest.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7. Career Vision &amp; Life Philosophy</a:t>
            </a:r>
            <a:endParaRPr lang="en-US" sz="3200" b="0" u="none" strike="noStrike">
              <a:solidFill>
                <a:srgbClr val="DD41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Short-Term Goal: Secure an industrial attachment/engineering role in Software Development, Networking, or Cybersecurity.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Long-Term Goal (5–10 Years): Establish an elite IT company and consultancy to create youth employment in Kenya.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Personal Aspiration: Achieve financial independence to support my family and mentor the next generation.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Guiding Philosophy: 'Hard work pays' and 'Resilience builds unbreakable strength.'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2026-10-13T15:58:10Z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