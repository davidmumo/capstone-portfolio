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F67015-F3DF-4AE4-A1C9-9D2AAA8463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4E887F-2E81-4988-8C41-06F3AD7309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AA8B69-73FF-4F36-8856-99BB3D85DA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206386-2BFE-4D55-86E9-0FDB0E0DB5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F1DB23-FE4D-446B-A2F5-EBA031A602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9ECC8A-0818-4810-80AA-4C77E9176A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BEC43D-F1A6-4E21-AFC1-8112720219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AB1F2A-B057-4207-84B2-9B3672D658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B13987-0250-42F3-8773-F10E142D56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545835-9B93-43B3-9883-32E897F524D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667119-AAAA-44C4-B105-DAE56CBF23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35240" y="272880"/>
            <a:ext cx="11320920" cy="86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64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35240" y="1796040"/>
            <a:ext cx="1132092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276"/>
              </a:spcAft>
              <a:buNone/>
            </a:pPr>
            <a:endParaRPr lang="en-US" sz="29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95B33EA6-4E88-4F01-8CD4-E6B9DD7856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35240" y="272880"/>
            <a:ext cx="11320920" cy="86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>
              <a:buNone/>
            </a:pPr>
            <a:endParaRPr lang="en-US" sz="364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435240" y="1796040"/>
            <a:ext cx="1132092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9BAE127D-8B99-4022-A653-2AF4A93238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6531120"/>
            <a:ext cx="12191760" cy="32652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/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0" y="0"/>
            <a:ext cx="12191760" cy="146952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/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1266200" y="6258960"/>
            <a:ext cx="544320" cy="54432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/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35240" y="272880"/>
            <a:ext cx="11320920" cy="86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364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364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364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35240" y="1796040"/>
            <a:ext cx="11320920" cy="4572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spAutoFit/>
          </a:bodyPr>
          <a:lstStyle>
            <a:lvl1pPr algn="l">
              <a:spcAft>
                <a:spcPts val="1276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en-US" sz="2900" b="1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1026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en-US" sz="254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765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en-US" sz="218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513"/>
              </a:spcAft>
              <a:buClr>
                <a:srgbClr val="2C3E50"/>
              </a:buClr>
              <a:buSzPct val="75000"/>
              <a:buFont typeface="Symbol" charset="2"/>
              <a:buChar char=""/>
              <a:defRPr lang="en-US" sz="181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55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en-US" sz="219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306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en-US" sz="264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369"/>
              </a:spcAft>
              <a:buClr>
                <a:srgbClr val="2C3E5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2C3E50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276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900" b="1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9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1026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254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54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76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18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18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513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lang="en-US" sz="181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1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5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19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19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306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264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64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369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2C3E5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4"/>
          </p:nvPr>
        </p:nvSpPr>
        <p:spPr>
          <a:xfrm>
            <a:off x="435240" y="6531120"/>
            <a:ext cx="3483360" cy="32652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35"/>
          </p:nvPr>
        </p:nvSpPr>
        <p:spPr>
          <a:xfrm>
            <a:off x="4136400" y="6531120"/>
            <a:ext cx="3918960" cy="32652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6"/>
          </p:nvPr>
        </p:nvSpPr>
        <p:spPr>
          <a:xfrm>
            <a:off x="11103120" y="6258960"/>
            <a:ext cx="870840" cy="544320"/>
          </a:xfrm>
          <a:prstGeom prst="rect">
            <a:avLst/>
          </a:prstGeom>
          <a:noFill/>
          <a:ln w="72000">
            <a:noFill/>
          </a:ln>
        </p:spPr>
        <p:txBody>
          <a:bodyPr lIns="0" tIns="0" rIns="0" bIns="0" anchor="ctr">
            <a:spAutoFit/>
          </a:bodyPr>
          <a:lstStyle>
            <a:lvl1pPr indent="0" algn="ctr">
              <a:buNone/>
              <a:def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fld id="{B83B2F42-BA73-4080-9A20-0FE472D7D8B8}" type="slidenum"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lang="en-US" sz="18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African Culture, Gender &amp; Modern Society</a:t>
            </a:r>
            <a:endParaRPr lang="en-US" sz="44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Harmonizing Indigenous Values with Digital Transformation</a:t>
            </a:r>
            <a:endParaRPr lang="en-US" sz="240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Ngei David Mumo | IGS 4202 Capstone</a:t>
            </a:r>
            <a:endParaRPr lang="en-US" sz="2400" b="0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1. Cultural Heritage &amp; Communal Resilience in Kitui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Indigenous Akamba society thrives on collective labor (Mwethya), shared harvests, and mutual accountability.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Agricultural cycles of rain and drought teach generational lessons in preparation, endurance, and resource sharing.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Extended and blended family structures foster deep social security, respect for elders, and sibling mentorship.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2. Gender Awareness: From Domestic Burden to STEM Equity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Traditional rural divisions of labor often place heavy domestic chores (water fetching, firewood) on women and youth.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Historical barriers limited female representation in technical sciences and computing.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Modern Imperative: Harmonizing traditional communal support with gender-inclusive STEM education.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Empowering both young women and men in coding, data science (DSAIC), and leadership multiplies community innovation.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3. Modern Societal Challenge I: Youth Unemployment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Thousands of Kenyan graduates enter a constrained job market annually.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Solution: Shifting from passive degree acquisition to active problem-solving via hackathons and open-source projects.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Leveraging software engineering and IT consultancy to create self-employment and digital startups.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4. Modern Societal Challenge II: Urbanization &amp; Infrastructure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Rural-to-urban migration strains municipal sanitation, housing, and transport networks.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Digital Intervention: Deploying full-stack web systems (like our React Waste Management System) to modernize public services.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Using algorithmic solvers (TSP) to optimize scarce municipal resources in developing towns.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5. Modern Societal Challenge III: Cybersecurity Threats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Rapid digitization in Kenya (mobile money, e-government, cloud banking) has expanded the attack surface for cybercriminals.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Rising threats of data breaches, phishing, and identity theft targeting citizens and institutions.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Mitigation: Enforcing Cisco-standard network security, secure authentication architectures, and public digital literacy.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0F766E"/>
                </a:solidFill>
                <a:effectLst/>
                <a:uFillTx/>
                <a:latin typeface="Calibri"/>
              </a:rPr>
              <a:t>6. Synthesis: The Ethical IT Professional</a:t>
            </a:r>
            <a:endParaRPr lang="en-US" sz="3200" b="1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Technology alone cannot solve societal challenges without moral grounding and servant leadership.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Combining technical fluency (Python, React, Linux, Cybersecurity) with community service (children's home outreach, faith leadership).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Clr>
                <a:srgbClr val="1E293B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Building a future where African cultural unity powers ethical, world-class technological advancement.</a:t>
            </a:r>
            <a:endParaRPr lang="en-US" sz="2000" b="1" u="none" strike="noStrike">
              <a:solidFill>
                <a:srgbClr val="2C3E5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2026-10-13T16:01:49Z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